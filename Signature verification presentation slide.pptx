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jvFLDVRubwyZ/nkbhgDiLvw1pr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5F3CE22-E455-478A-BAFD-9DD362FCFA06}">
  <a:tblStyle styleId="{75F3CE22-E455-478A-BAFD-9DD362FCFA0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Welcome and introduce the project title. Mention this is a CSC 320 project at FUOYE.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Briefly walk through what you will cover today.</a:t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Explain online vs offline. Emphasize that offline is harder because you only have a picture.</a:t>
            </a:r>
            <a:endParaRPr/>
          </a:p>
        </p:txBody>
      </p:sp>
      <p:sp>
        <p:nvSpPr>
          <p:cNvPr id="57" name="Google Shape;5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Make sure to explain what a skilled forgery is — the forger practices until it looks real.</a:t>
            </a:r>
            <a:endParaRPr/>
          </a:p>
        </p:txBody>
      </p:sp>
      <p:sp>
        <p:nvSpPr>
          <p:cNvPr id="80" name="Google Shape;8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aim is writer-independent, meaning the model works on people it has never seen before.</a:t>
            </a:r>
            <a:endParaRPr/>
          </a:p>
        </p:txBody>
      </p:sp>
      <p:sp>
        <p:nvSpPr>
          <p:cNvPr id="100" name="Google Shape;10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Pair generation is important — positive pair means two real signatures from the same person. Negative pair means one real and one forged.</a:t>
            </a:r>
            <a:endParaRPr/>
          </a:p>
        </p:txBody>
      </p:sp>
      <p:sp>
        <p:nvSpPr>
          <p:cNvPr id="124" name="Google Shape;12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Explain: both branches see one signature each. They produce a 64-number vector called an embedding. The L1 distance measures how different those vectors are. If the distance is small, signatures match.</a:t>
            </a:r>
            <a:endParaRPr/>
          </a:p>
        </p:txBody>
      </p:sp>
      <p:sp>
        <p:nvSpPr>
          <p:cNvPr id="153" name="Google Shape;15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Validation accuracy being higher than training accuracy is normal — it shows the data augmentation was working. Augmentation made training harder on purpose.</a:t>
            </a:r>
            <a:endParaRPr/>
          </a:p>
        </p:txBody>
      </p:sp>
      <p:sp>
        <p:nvSpPr>
          <p:cNvPr id="197" name="Google Shape;19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Recall of 94.72% is the most important number — it means the system almost never wrongly rejects a real signature. Only 29 false rejections out of 1,045 tests.</a:t>
            </a:r>
            <a:endParaRPr/>
          </a:p>
        </p:txBody>
      </p:sp>
      <p:sp>
        <p:nvSpPr>
          <p:cNvPr id="220" name="Google Shape;22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315 false positives are forged signatures that the model accepted as genuine. This is the classic security trade-off: the lower threshold helps genuine users but lets some forgeries through.</a:t>
            </a:r>
            <a:endParaRPr/>
          </a:p>
        </p:txBody>
      </p:sp>
      <p:sp>
        <p:nvSpPr>
          <p:cNvPr id="253" name="Google Shape;25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Emphasize the writer-independent capability. Even though the model was never trained on the test writers, it still achieved 75% F1. That is the strength of metric learning.</a:t>
            </a:r>
            <a:endParaRPr/>
          </a:p>
        </p:txBody>
      </p:sp>
      <p:sp>
        <p:nvSpPr>
          <p:cNvPr id="290" name="Google Shape;29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Open the floor to questions. Be calm, listen to each question fully before answering.</a:t>
            </a:r>
            <a:endParaRPr/>
          </a:p>
        </p:txBody>
      </p:sp>
      <p:sp>
        <p:nvSpPr>
          <p:cNvPr id="323" name="Google Shape;32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457200" y="50292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100"/>
              <a:buFont typeface="Calibri"/>
              <a:buNone/>
            </a:pPr>
            <a:r>
              <a:rPr b="1" i="0" lang="en-US" sz="13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FEDERAL UNIVERSITY OYE-EKITI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FCC"/>
              </a:buClr>
              <a:buSzPts val="1000"/>
              <a:buFont typeface="Calibri"/>
              <a:buNone/>
            </a:pPr>
            <a:r>
              <a:rPr b="0" i="0" lang="en-US" sz="1200" u="none" cap="none" strike="noStrike">
                <a:solidFill>
                  <a:srgbClr val="A0AFCC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 ·  CSC 320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1304038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Offline Signature Verification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57200" y="202692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2200"/>
              <a:buFont typeface="Cambria"/>
              <a:buNone/>
            </a:pPr>
            <a:r>
              <a:rPr b="0" i="0" lang="en-US" sz="2200" u="none" cap="none" strike="noStrike">
                <a:solidFill>
                  <a:srgbClr val="C9A84C"/>
                </a:solidFill>
                <a:latin typeface="Cambria"/>
                <a:ea typeface="Cambria"/>
                <a:cs typeface="Cambria"/>
                <a:sym typeface="Cambria"/>
              </a:rPr>
              <a:t>Using Siamese Convolutional Neural Networks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3200400" y="2712720"/>
            <a:ext cx="2743200" cy="366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457200" y="285242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FCC"/>
              </a:buClr>
              <a:buSzPts val="1100"/>
              <a:buFont typeface="Calibri"/>
              <a:buNone/>
            </a:pPr>
            <a:r>
              <a:rPr b="0" i="0" lang="en-US" sz="1300" u="none" cap="none" strike="noStrike">
                <a:solidFill>
                  <a:srgbClr val="A0AFCC"/>
                </a:solidFill>
                <a:latin typeface="Calibri"/>
                <a:ea typeface="Calibri"/>
                <a:cs typeface="Calibri"/>
                <a:sym typeface="Calibri"/>
              </a:rPr>
              <a:t>Supervised by: Dr. Adewole Lawrence Bunmi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341575" y="336549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FCC"/>
              </a:buClr>
              <a:buSzPts val="1100"/>
              <a:buFont typeface="Calibri"/>
              <a:buNone/>
            </a:pPr>
            <a:r>
              <a:rPr lang="en-US" sz="1300">
                <a:solidFill>
                  <a:srgbClr val="A0AFCC"/>
                </a:solidFill>
                <a:latin typeface="Calibri"/>
                <a:ea typeface="Calibri"/>
                <a:cs typeface="Calibri"/>
                <a:sym typeface="Calibri"/>
              </a:rPr>
              <a:t>SUBMITTED BY</a:t>
            </a:r>
            <a:endParaRPr sz="1300">
              <a:solidFill>
                <a:srgbClr val="A0AF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FCC"/>
              </a:buClr>
              <a:buSzPts val="1100"/>
              <a:buFont typeface="Calibri"/>
              <a:buNone/>
            </a:pPr>
            <a:br>
              <a:rPr lang="en-US" sz="1300">
                <a:solidFill>
                  <a:srgbClr val="A0AFC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>
                <a:solidFill>
                  <a:srgbClr val="A0AFCC"/>
                </a:solidFill>
                <a:latin typeface="Calibri"/>
                <a:ea typeface="Calibri"/>
                <a:cs typeface="Calibri"/>
                <a:sym typeface="Calibri"/>
              </a:rPr>
              <a:t>AJAYI EMMANUEL OLAMIDE - CSC/2023/1036</a:t>
            </a:r>
            <a:endParaRPr sz="1300">
              <a:solidFill>
                <a:srgbClr val="A0AF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FCC"/>
              </a:buClr>
              <a:buSzPts val="1100"/>
              <a:buFont typeface="Calibri"/>
              <a:buNone/>
            </a:pPr>
            <a:r>
              <a:rPr lang="en-US" sz="1300">
                <a:solidFill>
                  <a:srgbClr val="A0AFCC"/>
                </a:solidFill>
                <a:latin typeface="Calibri"/>
                <a:ea typeface="Calibri"/>
                <a:cs typeface="Calibri"/>
                <a:sym typeface="Calibri"/>
              </a:rPr>
              <a:t>BENSON NICHOLAS OLUWAFERANMI - C</a:t>
            </a:r>
            <a:r>
              <a:rPr lang="en-US" sz="1300">
                <a:solidFill>
                  <a:srgbClr val="A0AFCC"/>
                </a:solidFill>
                <a:latin typeface="Calibri"/>
                <a:ea typeface="Calibri"/>
                <a:cs typeface="Calibri"/>
                <a:sym typeface="Calibri"/>
              </a:rPr>
              <a:t>SC/2023/1067</a:t>
            </a:r>
            <a:endParaRPr sz="1300">
              <a:solidFill>
                <a:srgbClr val="A0AF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FCC"/>
              </a:buClr>
              <a:buSzPts val="1100"/>
              <a:buFont typeface="Calibri"/>
              <a:buNone/>
            </a:pPr>
            <a:r>
              <a:rPr lang="en-US" sz="1300">
                <a:solidFill>
                  <a:srgbClr val="A0AFCC"/>
                </a:solidFill>
                <a:latin typeface="Calibri"/>
                <a:ea typeface="Calibri"/>
                <a:cs typeface="Calibri"/>
                <a:sym typeface="Calibri"/>
              </a:rPr>
              <a:t>OJO FELIX OLUWASEUN</a:t>
            </a:r>
            <a:r>
              <a:rPr lang="en-US" sz="1300">
                <a:solidFill>
                  <a:srgbClr val="A0AFCC"/>
                </a:solidFill>
                <a:latin typeface="Calibri"/>
                <a:ea typeface="Calibri"/>
                <a:cs typeface="Calibri"/>
                <a:sym typeface="Calibri"/>
              </a:rPr>
              <a:t> - CSC/2023/1124</a:t>
            </a:r>
            <a:endParaRPr sz="1300">
              <a:solidFill>
                <a:srgbClr val="A0AF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FCC"/>
              </a:buClr>
              <a:buSzPts val="1100"/>
              <a:buFont typeface="Calibri"/>
              <a:buNone/>
            </a:pPr>
            <a:r>
              <a:rPr lang="en-US" sz="1300">
                <a:solidFill>
                  <a:srgbClr val="A0AFCC"/>
                </a:solidFill>
                <a:latin typeface="Calibri"/>
                <a:ea typeface="Calibri"/>
                <a:cs typeface="Calibri"/>
                <a:sym typeface="Calibri"/>
              </a:rPr>
              <a:t>OLANIYAN AYUBA OLANREWAJU - CSC/2023/1135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Presentation Overview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365760" y="1005840"/>
            <a:ext cx="4114800" cy="100584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530352" y="11430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C9A84C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1078992" y="109728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Background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1078992" y="1444752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Why signature verification matters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4709160" y="1005840"/>
            <a:ext cx="4114800" cy="100584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4873752" y="11430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C9A84C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5422392" y="109728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5422392" y="1444752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Challenges with manual verification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365760" y="2240280"/>
            <a:ext cx="4114800" cy="100584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530352" y="23774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C9A84C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078992" y="233172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Aim &amp; Objectives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078992" y="2679192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What we set out to achieve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4709160" y="2240280"/>
            <a:ext cx="4114800" cy="100584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4873752" y="23774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C9A84C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5422392" y="233172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5422392" y="2679192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Dataset, preprocessing &amp; Siamese network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365760" y="3474720"/>
            <a:ext cx="4114800" cy="100584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530352" y="36118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C9A84C"/>
                </a:solidFill>
                <a:latin typeface="Cambria"/>
                <a:ea typeface="Cambria"/>
                <a:cs typeface="Cambria"/>
                <a:sym typeface="Cambria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1078992" y="356616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1078992" y="3913632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Model performance &amp; key metrics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4709160" y="3474720"/>
            <a:ext cx="4114800" cy="100584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4873752" y="36118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C9A84C"/>
                </a:solidFill>
                <a:latin typeface="Cambria"/>
                <a:ea typeface="Cambria"/>
                <a:cs typeface="Cambria"/>
                <a:sym typeface="Cambria"/>
              </a:rPr>
              <a:t>06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5422392" y="356616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5422392" y="3913632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Findings, limitations &amp; future work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 txBox="1"/>
          <p:nvPr/>
        </p:nvSpPr>
        <p:spPr>
          <a:xfrm>
            <a:off x="8089900" y="92350"/>
            <a:ext cx="734100" cy="7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C9A84C"/>
                </a:solidFill>
              </a:rPr>
              <a:t>01</a:t>
            </a:r>
            <a:endParaRPr b="1" sz="3700">
              <a:solidFill>
                <a:srgbClr val="C9A84C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365760" y="16459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Background of the Study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320040" y="1078992"/>
            <a:ext cx="292608" cy="292608"/>
          </a:xfrm>
          <a:prstGeom prst="ellipse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320040" y="107899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713232" y="1024128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Handwritten signatures are the most widely accepted form of identity verification across banking, legal, and administrative systems.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320040" y="1828800"/>
            <a:ext cx="292608" cy="292608"/>
          </a:xfrm>
          <a:prstGeom prst="ellipse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320040" y="182880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713232" y="1773936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Verification is classified as Online (dynamic — captures pressure, speed) or Offline (static — only a scanned image).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320040" y="2578608"/>
            <a:ext cx="292608" cy="292608"/>
          </a:xfrm>
          <a:prstGeom prst="ellipse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320040" y="257860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713232" y="2523744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Offline verification is more practical but harder — it lacks dynamic data and must rely only on ink strokes.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320040" y="3328416"/>
            <a:ext cx="292608" cy="292608"/>
          </a:xfrm>
          <a:prstGeom prst="ellipse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320040" y="3328416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713232" y="3273552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Manual verification by human examiners is slow, subjective, error-prone, and difficult to scale.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320040" y="4078224"/>
            <a:ext cx="292608" cy="292608"/>
          </a:xfrm>
          <a:prstGeom prst="ellipse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320040" y="4078224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713232" y="4023360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Deep learning — specifically Siamese Neural Networks — enables automated, writer-independent offline verification.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 txBox="1"/>
          <p:nvPr/>
        </p:nvSpPr>
        <p:spPr>
          <a:xfrm>
            <a:off x="8089900" y="92350"/>
            <a:ext cx="734100" cy="7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C9A84C"/>
                </a:solidFill>
              </a:rPr>
              <a:t>02</a:t>
            </a:r>
            <a:endParaRPr b="1" sz="3700">
              <a:solidFill>
                <a:srgbClr val="C9A84C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365760" y="16459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Problem Statement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320040" y="1051560"/>
            <a:ext cx="4023360" cy="1508760"/>
          </a:xfrm>
          <a:prstGeom prst="roundRect">
            <a:avLst>
              <a:gd fmla="val 4848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521208" y="1216152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Skilled Forgeries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521208" y="1527048"/>
            <a:ext cx="3657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Expert forgers replicate signatures closely enough to fool human examiners — especially in offline (static image) settings.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4709160" y="1051560"/>
            <a:ext cx="4023360" cy="1508760"/>
          </a:xfrm>
          <a:prstGeom prst="roundRect">
            <a:avLst>
              <a:gd fmla="val 4848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4910328" y="1216152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Human Error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4910328" y="1527048"/>
            <a:ext cx="3657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Manual verification is subjective, inconsistent across examiners, and degrades under fatigue or time pressure.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320040" y="2743200"/>
            <a:ext cx="4023360" cy="1508760"/>
          </a:xfrm>
          <a:prstGeom prst="roundRect">
            <a:avLst>
              <a:gd fmla="val 4848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521208" y="2907792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Scalability Problem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521208" y="3218688"/>
            <a:ext cx="3657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Standard CNNs require thousands of samples per writer — impossible in real-world banking or legal scenarios.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4709160" y="2743200"/>
            <a:ext cx="4023360" cy="1508760"/>
          </a:xfrm>
          <a:prstGeom prst="roundRect">
            <a:avLst>
              <a:gd fmla="val 4848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4910328" y="2907792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Financial Impact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4910328" y="3218688"/>
            <a:ext cx="3657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Forged signatures on cheques and documents cost institutions millions annually in fraud and legal disputes.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 txBox="1"/>
          <p:nvPr/>
        </p:nvSpPr>
        <p:spPr>
          <a:xfrm>
            <a:off x="8089900" y="92350"/>
            <a:ext cx="734100" cy="7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C9A84C"/>
                </a:solidFill>
              </a:rPr>
              <a:t>03</a:t>
            </a:r>
            <a:endParaRPr b="1" sz="3700">
              <a:solidFill>
                <a:srgbClr val="C9A84C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"/>
          <p:cNvSpPr/>
          <p:nvPr/>
        </p:nvSpPr>
        <p:spPr>
          <a:xfrm>
            <a:off x="365760" y="16459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Aim &amp; Objectives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320040" y="987552"/>
            <a:ext cx="8503920" cy="804672"/>
          </a:xfrm>
          <a:prstGeom prst="roundRect">
            <a:avLst>
              <a:gd fmla="val 9091" name="adj"/>
            </a:avLst>
          </a:prstGeom>
          <a:solidFill>
            <a:srgbClr val="EFF4FB"/>
          </a:solidFill>
          <a:ln>
            <a:noFill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502920" y="1060704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AIM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502920" y="1316736"/>
            <a:ext cx="8229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To design and evaluate an automated Offline Signature Verification system using a Siamese CNN that accurately distinguishes genuine signatures from skilled forgeries — without retraining for each new writer.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320040" y="193852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OBJECTIVES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320040" y="2267712"/>
            <a:ext cx="54864" cy="237744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"/>
          <p:cNvSpPr/>
          <p:nvPr/>
        </p:nvSpPr>
        <p:spPr>
          <a:xfrm>
            <a:off x="475488" y="2249424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Collect &amp; organize genuine and forged signatures using the CEDAR dataset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320040" y="2688336"/>
            <a:ext cx="54864" cy="237744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"/>
          <p:cNvSpPr/>
          <p:nvPr/>
        </p:nvSpPr>
        <p:spPr>
          <a:xfrm>
            <a:off x="475488" y="2670048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Apply preprocessing pipeline: grayscale, binarization, resizing, normalization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320040" y="3108960"/>
            <a:ext cx="54864" cy="237744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475488" y="3090672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Design Siamese CNN with twin branches, shared weights, and contrastive loss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320040" y="3529584"/>
            <a:ext cx="54864" cy="237744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475488" y="3511296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Train model on positive (genuine–genuine) and negative (genuine–forged) pairs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320040" y="3950208"/>
            <a:ext cx="54864" cy="237744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475488" y="3931920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Evaluate using Accuracy, Precision, Recall, F1-Score, and Equal Error Rate (EER)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320040" y="4370832"/>
            <a:ext cx="54864" cy="237744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475488" y="4352544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Build a complete verification workflow for real-world use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 txBox="1"/>
          <p:nvPr/>
        </p:nvSpPr>
        <p:spPr>
          <a:xfrm>
            <a:off x="8089900" y="92350"/>
            <a:ext cx="734100" cy="7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C9A84C"/>
                </a:solidFill>
              </a:rPr>
              <a:t>04</a:t>
            </a:r>
            <a:endParaRPr b="1" sz="3700">
              <a:solidFill>
                <a:srgbClr val="C9A84C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365760" y="16459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Dataset &amp; Preprocessing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320040" y="100584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CEDAR DATASET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9" name="Google Shape;129;p6"/>
          <p:cNvGraphicFramePr/>
          <p:nvPr/>
        </p:nvGraphicFramePr>
        <p:xfrm>
          <a:off x="320040" y="12984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{75F3CE22-E455-478A-BAFD-9DD362FCFA06}</a:tableStyleId>
              </a:tblPr>
              <a:tblGrid>
                <a:gridCol w="2194550"/>
                <a:gridCol w="1737350"/>
              </a:tblGrid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Parameter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Value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Number of Writers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Genuine Signatures / Writer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Forged Signatures / Writer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Images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1,575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Image Resolution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220 × 155 px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0" name="Google Shape;130;p6"/>
          <p:cNvSpPr/>
          <p:nvPr/>
        </p:nvSpPr>
        <p:spPr>
          <a:xfrm>
            <a:off x="4572000" y="100584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PREPROCESSING PIPELINE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4572000" y="1298448"/>
            <a:ext cx="4206240" cy="41148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4681728" y="1362456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6DA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6DA4"/>
                </a:solidFill>
                <a:latin typeface="Calibri"/>
                <a:ea typeface="Calibri"/>
                <a:cs typeface="Calibri"/>
                <a:sym typeface="Calibri"/>
              </a:rPr>
              <a:t>1. Crop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5715000" y="1362456"/>
            <a:ext cx="2971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Bounding-box crop to remove white borders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4572000" y="1801368"/>
            <a:ext cx="4206240" cy="41148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4681728" y="1865376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6DA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6DA4"/>
                </a:solidFill>
                <a:latin typeface="Calibri"/>
                <a:ea typeface="Calibri"/>
                <a:cs typeface="Calibri"/>
                <a:sym typeface="Calibri"/>
              </a:rPr>
              <a:t>2. Grayscale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5715000" y="1865376"/>
            <a:ext cx="2971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Remove colour — only ink structure matters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4572000" y="2304288"/>
            <a:ext cx="4206240" cy="41148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4681728" y="2368296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6DA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6DA4"/>
                </a:solidFill>
                <a:latin typeface="Calibri"/>
                <a:ea typeface="Calibri"/>
                <a:cs typeface="Calibri"/>
                <a:sym typeface="Calibri"/>
              </a:rPr>
              <a:t>3. Binarize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5715000" y="2368296"/>
            <a:ext cx="2971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Otsu's method — pure black ink on white paper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4572000" y="2807208"/>
            <a:ext cx="4206240" cy="41148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4681728" y="2871216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6DA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6DA4"/>
                </a:solidFill>
                <a:latin typeface="Calibri"/>
                <a:ea typeface="Calibri"/>
                <a:cs typeface="Calibri"/>
                <a:sym typeface="Calibri"/>
              </a:rPr>
              <a:t>4. Resize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5715000" y="2871216"/>
            <a:ext cx="2971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Aspect-ratio-preserving pad to 220×155 px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4572000" y="3310128"/>
            <a:ext cx="4206240" cy="41148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4681728" y="3374136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6DA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6DA4"/>
                </a:solidFill>
                <a:latin typeface="Calibri"/>
                <a:ea typeface="Calibri"/>
                <a:cs typeface="Calibri"/>
                <a:sym typeface="Calibri"/>
              </a:rPr>
              <a:t>5. Normalize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5715000" y="3374136"/>
            <a:ext cx="2971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Scale pixels to [0.0, 1.0] range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4572000" y="3813048"/>
            <a:ext cx="4206240" cy="41148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4681728" y="3877056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6DA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6DA4"/>
                </a:solidFill>
                <a:latin typeface="Calibri"/>
                <a:ea typeface="Calibri"/>
                <a:cs typeface="Calibri"/>
                <a:sym typeface="Calibri"/>
              </a:rPr>
              <a:t>6. Pair Gen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5715000" y="3877056"/>
            <a:ext cx="2971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Create genuine–genuine and genuine–forged pairs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 txBox="1"/>
          <p:nvPr/>
        </p:nvSpPr>
        <p:spPr>
          <a:xfrm>
            <a:off x="8089900" y="92350"/>
            <a:ext cx="734100" cy="7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C9A84C"/>
                </a:solidFill>
              </a:rPr>
              <a:t>05</a:t>
            </a:r>
            <a:endParaRPr b="1" sz="3700">
              <a:solidFill>
                <a:srgbClr val="C9A84C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365760" y="16459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Siamese Network Architecture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274320" y="1051560"/>
            <a:ext cx="1371600" cy="640080"/>
          </a:xfrm>
          <a:prstGeom prst="roundRect">
            <a:avLst>
              <a:gd fmla="val 10000" name="adj"/>
            </a:avLst>
          </a:prstGeom>
          <a:solidFill>
            <a:srgbClr val="EFF4FB"/>
          </a:solidFill>
          <a:ln cap="flat" cmpd="sng" w="9525">
            <a:solidFill>
              <a:srgbClr val="C8D8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274320" y="1051560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Reference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Signature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274320" y="2331720"/>
            <a:ext cx="1371600" cy="640080"/>
          </a:xfrm>
          <a:prstGeom prst="roundRect">
            <a:avLst>
              <a:gd fmla="val 10000" name="adj"/>
            </a:avLst>
          </a:prstGeom>
          <a:solidFill>
            <a:srgbClr val="EFF4FB"/>
          </a:solidFill>
          <a:ln cap="flat" cmpd="sng" w="9525">
            <a:solidFill>
              <a:srgbClr val="C8D8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274320" y="2331720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Query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Signature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2011680" y="1051560"/>
            <a:ext cx="1463040" cy="640080"/>
          </a:xfrm>
          <a:prstGeom prst="roundRect">
            <a:avLst>
              <a:gd fmla="val 10000" name="adj"/>
            </a:avLst>
          </a:prstGeom>
          <a:solidFill>
            <a:srgbClr val="DEEAF9"/>
          </a:solidFill>
          <a:ln cap="flat" cmpd="sng" w="9525">
            <a:solidFill>
              <a:srgbClr val="C8D8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2011680" y="1051560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Twin CNN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Branch 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2011680" y="2331720"/>
            <a:ext cx="1463040" cy="640080"/>
          </a:xfrm>
          <a:prstGeom prst="roundRect">
            <a:avLst>
              <a:gd fmla="val 10000" name="adj"/>
            </a:avLst>
          </a:prstGeom>
          <a:solidFill>
            <a:srgbClr val="DEEAF9"/>
          </a:solidFill>
          <a:ln cap="flat" cmpd="sng" w="9525">
            <a:solidFill>
              <a:srgbClr val="C8D8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2011680" y="2331720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Twin CNN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Branch 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3749040" y="1051560"/>
            <a:ext cx="1463040" cy="640080"/>
          </a:xfrm>
          <a:prstGeom prst="roundRect">
            <a:avLst>
              <a:gd fmla="val 10000" name="adj"/>
            </a:avLst>
          </a:prstGeom>
          <a:solidFill>
            <a:srgbClr val="D6EAF8"/>
          </a:solidFill>
          <a:ln cap="flat" cmpd="sng" w="9525">
            <a:solidFill>
              <a:srgbClr val="C8D8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3749040" y="1051560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Embedding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E_A (64D)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3749040" y="2331720"/>
            <a:ext cx="1463040" cy="640080"/>
          </a:xfrm>
          <a:prstGeom prst="roundRect">
            <a:avLst>
              <a:gd fmla="val 10000" name="adj"/>
            </a:avLst>
          </a:prstGeom>
          <a:solidFill>
            <a:srgbClr val="D6EAF8"/>
          </a:solidFill>
          <a:ln cap="flat" cmpd="sng" w="9525">
            <a:solidFill>
              <a:srgbClr val="C8D8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3749040" y="2331720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Embedding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E_B (64D)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5486400" y="1691640"/>
            <a:ext cx="1463040" cy="640080"/>
          </a:xfrm>
          <a:prstGeom prst="roundRect">
            <a:avLst>
              <a:gd fmla="val 10000" name="adj"/>
            </a:avLst>
          </a:prstGeom>
          <a:solidFill>
            <a:srgbClr val="FCF3CF"/>
          </a:solidFill>
          <a:ln cap="flat" cmpd="sng" w="9525">
            <a:solidFill>
              <a:srgbClr val="C8D8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5486400" y="1691640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L1 Distance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|E_A – E_B|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7132320" y="1691640"/>
            <a:ext cx="1188720" cy="640080"/>
          </a:xfrm>
          <a:prstGeom prst="roundRect">
            <a:avLst>
              <a:gd fmla="val 10000" name="adj"/>
            </a:avLst>
          </a:prstGeom>
          <a:solidFill>
            <a:srgbClr val="D5F5E3"/>
          </a:solidFill>
          <a:ln cap="flat" cmpd="sng" w="9525">
            <a:solidFill>
              <a:srgbClr val="C8D8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7132320" y="1691640"/>
            <a:ext cx="1188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Fully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Connected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3" name="Google Shape;173;p7"/>
          <p:cNvCxnSpPr/>
          <p:nvPr/>
        </p:nvCxnSpPr>
        <p:spPr>
          <a:xfrm>
            <a:off x="1645920" y="1371600"/>
            <a:ext cx="365760" cy="0"/>
          </a:xfrm>
          <a:prstGeom prst="straightConnector1">
            <a:avLst/>
          </a:prstGeom>
          <a:noFill/>
          <a:ln cap="flat" cmpd="sng" w="19050">
            <a:solidFill>
              <a:srgbClr val="6B7A9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4" name="Google Shape;174;p7"/>
          <p:cNvCxnSpPr/>
          <p:nvPr/>
        </p:nvCxnSpPr>
        <p:spPr>
          <a:xfrm>
            <a:off x="1645920" y="2651760"/>
            <a:ext cx="365760" cy="0"/>
          </a:xfrm>
          <a:prstGeom prst="straightConnector1">
            <a:avLst/>
          </a:prstGeom>
          <a:noFill/>
          <a:ln cap="flat" cmpd="sng" w="19050">
            <a:solidFill>
              <a:srgbClr val="6B7A9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5" name="Google Shape;175;p7"/>
          <p:cNvCxnSpPr/>
          <p:nvPr/>
        </p:nvCxnSpPr>
        <p:spPr>
          <a:xfrm>
            <a:off x="3474720" y="1371600"/>
            <a:ext cx="274320" cy="0"/>
          </a:xfrm>
          <a:prstGeom prst="straightConnector1">
            <a:avLst/>
          </a:prstGeom>
          <a:noFill/>
          <a:ln cap="flat" cmpd="sng" w="19050">
            <a:solidFill>
              <a:srgbClr val="6B7A9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6" name="Google Shape;176;p7"/>
          <p:cNvCxnSpPr/>
          <p:nvPr/>
        </p:nvCxnSpPr>
        <p:spPr>
          <a:xfrm>
            <a:off x="3474720" y="2651760"/>
            <a:ext cx="274320" cy="0"/>
          </a:xfrm>
          <a:prstGeom prst="straightConnector1">
            <a:avLst/>
          </a:prstGeom>
          <a:noFill/>
          <a:ln cap="flat" cmpd="sng" w="19050">
            <a:solidFill>
              <a:srgbClr val="6B7A9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7" name="Google Shape;177;p7"/>
          <p:cNvCxnSpPr/>
          <p:nvPr/>
        </p:nvCxnSpPr>
        <p:spPr>
          <a:xfrm>
            <a:off x="5212080" y="1371600"/>
            <a:ext cx="274320" cy="640080"/>
          </a:xfrm>
          <a:prstGeom prst="straightConnector1">
            <a:avLst/>
          </a:prstGeom>
          <a:noFill/>
          <a:ln cap="flat" cmpd="sng" w="19050">
            <a:solidFill>
              <a:srgbClr val="6B7A9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" name="Google Shape;178;p7"/>
          <p:cNvCxnSpPr/>
          <p:nvPr/>
        </p:nvCxnSpPr>
        <p:spPr>
          <a:xfrm flipH="1" rot="10800000">
            <a:off x="5212080" y="2011680"/>
            <a:ext cx="274320" cy="640080"/>
          </a:xfrm>
          <a:prstGeom prst="straightConnector1">
            <a:avLst/>
          </a:prstGeom>
          <a:noFill/>
          <a:ln cap="flat" cmpd="sng" w="19050">
            <a:solidFill>
              <a:srgbClr val="6B7A9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9" name="Google Shape;179;p7"/>
          <p:cNvCxnSpPr/>
          <p:nvPr/>
        </p:nvCxnSpPr>
        <p:spPr>
          <a:xfrm>
            <a:off x="6949440" y="2011680"/>
            <a:ext cx="182880" cy="0"/>
          </a:xfrm>
          <a:prstGeom prst="straightConnector1">
            <a:avLst/>
          </a:prstGeom>
          <a:noFill/>
          <a:ln cap="flat" cmpd="sng" w="19050">
            <a:solidFill>
              <a:srgbClr val="6B7A9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0" name="Google Shape;180;p7"/>
          <p:cNvCxnSpPr/>
          <p:nvPr/>
        </p:nvCxnSpPr>
        <p:spPr>
          <a:xfrm>
            <a:off x="8321040" y="2011680"/>
            <a:ext cx="365760" cy="0"/>
          </a:xfrm>
          <a:prstGeom prst="straightConnector1">
            <a:avLst/>
          </a:prstGeom>
          <a:noFill/>
          <a:ln cap="flat" cmpd="sng" w="19050">
            <a:solidFill>
              <a:srgbClr val="6B7A9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1" name="Google Shape;181;p7"/>
          <p:cNvSpPr/>
          <p:nvPr/>
        </p:nvSpPr>
        <p:spPr>
          <a:xfrm>
            <a:off x="8503920" y="1755648"/>
            <a:ext cx="5943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GENUINE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or FORGED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2" name="Google Shape;182;p7"/>
          <p:cNvCxnSpPr/>
          <p:nvPr/>
        </p:nvCxnSpPr>
        <p:spPr>
          <a:xfrm>
            <a:off x="2011680" y="1691640"/>
            <a:ext cx="0" cy="640080"/>
          </a:xfrm>
          <a:prstGeom prst="straightConnector1">
            <a:avLst/>
          </a:prstGeom>
          <a:noFill/>
          <a:ln cap="flat" cmpd="sng" w="19050">
            <a:solidFill>
              <a:srgbClr val="C9A84C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83" name="Google Shape;183;p7"/>
          <p:cNvSpPr/>
          <p:nvPr/>
        </p:nvSpPr>
        <p:spPr>
          <a:xfrm>
            <a:off x="1463040" y="1719072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Shared Weights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320040" y="34747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1" i="0" lang="en-US" sz="11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KEY DESIGN DECISIONS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320040" y="3749040"/>
            <a:ext cx="54900" cy="1647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86" name="Google Shape;186;p7"/>
          <p:cNvSpPr/>
          <p:nvPr/>
        </p:nvSpPr>
        <p:spPr>
          <a:xfrm>
            <a:off x="475488" y="3730752"/>
            <a:ext cx="8321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Calibri"/>
              <a:buNone/>
            </a:pPr>
            <a:r>
              <a:rPr b="0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Twin branches share exact same weights — consistency guaranteed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320040" y="3986784"/>
            <a:ext cx="54900" cy="1647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88" name="Google Shape;188;p7"/>
          <p:cNvSpPr/>
          <p:nvPr/>
        </p:nvSpPr>
        <p:spPr>
          <a:xfrm>
            <a:off x="475488" y="3968496"/>
            <a:ext cx="8321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Calibri"/>
              <a:buNone/>
            </a:pPr>
            <a:r>
              <a:rPr b="0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L1 distance compares embeddings dimension-by-dimension (64 features)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320040" y="4224528"/>
            <a:ext cx="54900" cy="1647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90" name="Google Shape;190;p7"/>
          <p:cNvSpPr/>
          <p:nvPr/>
        </p:nvSpPr>
        <p:spPr>
          <a:xfrm>
            <a:off x="475488" y="4206240"/>
            <a:ext cx="8321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Calibri"/>
              <a:buNone/>
            </a:pPr>
            <a:r>
              <a:rPr b="0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BCEWithLogitsLoss trains the model to push forgeries apart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320040" y="4462272"/>
            <a:ext cx="54900" cy="1647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92" name="Google Shape;192;p7"/>
          <p:cNvSpPr/>
          <p:nvPr/>
        </p:nvSpPr>
        <p:spPr>
          <a:xfrm>
            <a:off x="475488" y="4443984"/>
            <a:ext cx="8321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Calibri"/>
              <a:buNone/>
            </a:pPr>
            <a:r>
              <a:rPr b="0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Sigmoid activation converts output to a match probability (0–1)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 txBox="1"/>
          <p:nvPr/>
        </p:nvSpPr>
        <p:spPr>
          <a:xfrm>
            <a:off x="8089900" y="92350"/>
            <a:ext cx="734100" cy="7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C9A84C"/>
                </a:solidFill>
              </a:rPr>
              <a:t>06</a:t>
            </a:r>
            <a:endParaRPr b="1" sz="3700">
              <a:solidFill>
                <a:srgbClr val="C9A84C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"/>
          <p:cNvSpPr/>
          <p:nvPr/>
        </p:nvSpPr>
        <p:spPr>
          <a:xfrm>
            <a:off x="365760" y="16459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Model Training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320040" y="100584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TRAINING CONFIGURATION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2" name="Google Shape;202;p8"/>
          <p:cNvGraphicFramePr/>
          <p:nvPr/>
        </p:nvGraphicFramePr>
        <p:xfrm>
          <a:off x="320040" y="12984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{75F3CE22-E455-478A-BAFD-9DD362FCFA06}</a:tableStyleId>
              </a:tblPr>
              <a:tblGrid>
                <a:gridCol w="2011675"/>
                <a:gridCol w="3108950"/>
              </a:tblGrid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Parameter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Value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Training Pairs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7,980 (3,780 genuine + 4,200 forged)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Validation Pairs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950 pairs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Batch Size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Optimizer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AdamW (weight decay: 1e-5)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Loss Function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BCEWithLogitsLoss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Max Epochs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 (stopped at 29 via Early Stopping)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Best Epoch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Epoch 19 — Val Loss: 0.5605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Hardware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CUDA GPU (Google Colab)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3" name="Google Shape;203;p8"/>
          <p:cNvSpPr/>
          <p:nvPr/>
        </p:nvSpPr>
        <p:spPr>
          <a:xfrm>
            <a:off x="5669280" y="1005840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TRAINING OUTCOMES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5669280" y="1298448"/>
            <a:ext cx="3154680" cy="777240"/>
          </a:xfrm>
          <a:prstGeom prst="roundRect">
            <a:avLst>
              <a:gd fmla="val 9412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"/>
          <p:cNvSpPr/>
          <p:nvPr/>
        </p:nvSpPr>
        <p:spPr>
          <a:xfrm>
            <a:off x="5760720" y="1371600"/>
            <a:ext cx="3017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72.63%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5760720" y="1700784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Validation Accuracy at best epoch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5669280" y="2231136"/>
            <a:ext cx="3154680" cy="777240"/>
          </a:xfrm>
          <a:prstGeom prst="roundRect">
            <a:avLst>
              <a:gd fmla="val 9412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8"/>
          <p:cNvSpPr/>
          <p:nvPr/>
        </p:nvSpPr>
        <p:spPr>
          <a:xfrm>
            <a:off x="5760720" y="2304288"/>
            <a:ext cx="3017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0.5605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5760720" y="2633472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Best Validation Loss (Epoch 19)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5669280" y="3163824"/>
            <a:ext cx="3154680" cy="777240"/>
          </a:xfrm>
          <a:prstGeom prst="roundRect">
            <a:avLst>
              <a:gd fmla="val 9412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8"/>
          <p:cNvSpPr/>
          <p:nvPr/>
        </p:nvSpPr>
        <p:spPr>
          <a:xfrm>
            <a:off x="5760720" y="3236976"/>
            <a:ext cx="3017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61.45%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5760720" y="3566160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Training Accuracy at best epoch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5669280" y="4096512"/>
            <a:ext cx="3154680" cy="777240"/>
          </a:xfrm>
          <a:prstGeom prst="roundRect">
            <a:avLst>
              <a:gd fmla="val 9412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8"/>
          <p:cNvSpPr/>
          <p:nvPr/>
        </p:nvSpPr>
        <p:spPr>
          <a:xfrm>
            <a:off x="5760720" y="4169664"/>
            <a:ext cx="3017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Epoch 29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5760720" y="4498848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Early stopping activated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 txBox="1"/>
          <p:nvPr/>
        </p:nvSpPr>
        <p:spPr>
          <a:xfrm>
            <a:off x="8089900" y="92350"/>
            <a:ext cx="734100" cy="7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C9A84C"/>
                </a:solidFill>
              </a:rPr>
              <a:t>07</a:t>
            </a:r>
            <a:endParaRPr b="1" sz="3700">
              <a:solidFill>
                <a:srgbClr val="C9A84C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"/>
          <p:cNvSpPr/>
          <p:nvPr/>
        </p:nvSpPr>
        <p:spPr>
          <a:xfrm>
            <a:off x="365760" y="16459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Results &amp; Performance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320040" y="987552"/>
            <a:ext cx="8503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Test set: 1,045 pairs from 11 unseen writers  ·  Threshold: τ = 0.345 (F1-optimized)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320040" y="1371600"/>
            <a:ext cx="2651760" cy="1508760"/>
          </a:xfrm>
          <a:prstGeom prst="roundRect">
            <a:avLst>
              <a:gd fmla="val 4848" name="adj"/>
            </a:avLst>
          </a:prstGeom>
          <a:solidFill>
            <a:srgbClr val="F4F6FA"/>
          </a:solidFill>
          <a:ln>
            <a:noFill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"/>
          <p:cNvSpPr/>
          <p:nvPr/>
        </p:nvSpPr>
        <p:spPr>
          <a:xfrm>
            <a:off x="429768" y="1572768"/>
            <a:ext cx="2423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67.08%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429768" y="2176272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6DA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6DA4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429768" y="2441448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Overall correct predictions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3154680" y="1371600"/>
            <a:ext cx="2651760" cy="1508760"/>
          </a:xfrm>
          <a:prstGeom prst="roundRect">
            <a:avLst>
              <a:gd fmla="val 4848" name="adj"/>
            </a:avLst>
          </a:prstGeom>
          <a:solidFill>
            <a:srgbClr val="F4F6FA"/>
          </a:solidFill>
          <a:ln>
            <a:noFill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9"/>
          <p:cNvSpPr/>
          <p:nvPr/>
        </p:nvSpPr>
        <p:spPr>
          <a:xfrm>
            <a:off x="3264408" y="1572768"/>
            <a:ext cx="2423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62.32%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3264408" y="2176272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6DA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6DA4"/>
                </a:solidFill>
                <a:latin typeface="Calibri"/>
                <a:ea typeface="Calibri"/>
                <a:cs typeface="Calibri"/>
                <a:sym typeface="Calibri"/>
              </a:rPr>
              <a:t>Precision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3264408" y="2441448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When called genuine, correct rate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5989320" y="1371600"/>
            <a:ext cx="2651760" cy="1508760"/>
          </a:xfrm>
          <a:prstGeom prst="roundRect">
            <a:avLst>
              <a:gd fmla="val 4848" name="adj"/>
            </a:avLst>
          </a:prstGeom>
          <a:solidFill>
            <a:srgbClr val="F4F6FA"/>
          </a:solidFill>
          <a:ln>
            <a:noFill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9"/>
          <p:cNvSpPr/>
          <p:nvPr/>
        </p:nvSpPr>
        <p:spPr>
          <a:xfrm>
            <a:off x="6099048" y="1572768"/>
            <a:ext cx="2423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94.72%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6099048" y="2176272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6DA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6DA4"/>
                </a:solidFill>
                <a:latin typeface="Calibri"/>
                <a:ea typeface="Calibri"/>
                <a:cs typeface="Calibri"/>
                <a:sym typeface="Calibri"/>
              </a:rPr>
              <a:t>Recall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6099048" y="2441448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Caught 94.7% of genuine signatures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320040" y="3063240"/>
            <a:ext cx="2651760" cy="1508760"/>
          </a:xfrm>
          <a:prstGeom prst="roundRect">
            <a:avLst>
              <a:gd fmla="val 4848" name="adj"/>
            </a:avLst>
          </a:prstGeom>
          <a:solidFill>
            <a:srgbClr val="F4F6FA"/>
          </a:solidFill>
          <a:ln>
            <a:noFill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9"/>
          <p:cNvSpPr/>
          <p:nvPr/>
        </p:nvSpPr>
        <p:spPr>
          <a:xfrm>
            <a:off x="429768" y="3264408"/>
            <a:ext cx="2423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75.18%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429768" y="3867912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6DA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6DA4"/>
                </a:solidFill>
                <a:latin typeface="Calibri"/>
                <a:ea typeface="Calibri"/>
                <a:cs typeface="Calibri"/>
                <a:sym typeface="Calibri"/>
              </a:rPr>
              <a:t>F1-Score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429768" y="4133088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Balance of precision &amp; recall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3154680" y="3063240"/>
            <a:ext cx="2651760" cy="1508760"/>
          </a:xfrm>
          <a:prstGeom prst="roundRect">
            <a:avLst>
              <a:gd fmla="val 4848" name="adj"/>
            </a:avLst>
          </a:prstGeom>
          <a:solidFill>
            <a:srgbClr val="F4F6FA"/>
          </a:solidFill>
          <a:ln>
            <a:noFill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9"/>
          <p:cNvSpPr/>
          <p:nvPr/>
        </p:nvSpPr>
        <p:spPr>
          <a:xfrm>
            <a:off x="3264408" y="3264408"/>
            <a:ext cx="2423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68.60%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3264408" y="3867912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6DA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6DA4"/>
                </a:solidFill>
                <a:latin typeface="Calibri"/>
                <a:ea typeface="Calibri"/>
                <a:cs typeface="Calibri"/>
                <a:sym typeface="Calibri"/>
              </a:rPr>
              <a:t>ROC-AUC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3264408" y="4133088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Discriminative capability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5989320" y="3063240"/>
            <a:ext cx="2651760" cy="1508760"/>
          </a:xfrm>
          <a:prstGeom prst="roundRect">
            <a:avLst>
              <a:gd fmla="val 4848" name="adj"/>
            </a:avLst>
          </a:prstGeom>
          <a:solidFill>
            <a:srgbClr val="F4F6FA"/>
          </a:solidFill>
          <a:ln>
            <a:noFill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9"/>
          <p:cNvSpPr/>
          <p:nvPr/>
        </p:nvSpPr>
        <p:spPr>
          <a:xfrm>
            <a:off x="6099048" y="3264408"/>
            <a:ext cx="2423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40.66%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6099048" y="3867912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6DA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6DA4"/>
                </a:solidFill>
                <a:latin typeface="Calibri"/>
                <a:ea typeface="Calibri"/>
                <a:cs typeface="Calibri"/>
                <a:sym typeface="Calibri"/>
              </a:rPr>
              <a:t>EER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6099048" y="4133088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Equal Error Rate at τ = 0.409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 txBox="1"/>
          <p:nvPr/>
        </p:nvSpPr>
        <p:spPr>
          <a:xfrm>
            <a:off x="8089900" y="92350"/>
            <a:ext cx="734100" cy="7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C9A84C"/>
                </a:solidFill>
              </a:rPr>
              <a:t>08</a:t>
            </a:r>
            <a:endParaRPr b="1" sz="3700">
              <a:solidFill>
                <a:srgbClr val="C9A84C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0"/>
          <p:cNvSpPr/>
          <p:nvPr/>
        </p:nvSpPr>
        <p:spPr>
          <a:xfrm>
            <a:off x="365760" y="16459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Confusion Matrix Analysis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2240280" y="1005840"/>
            <a:ext cx="1874520" cy="960120"/>
          </a:xfrm>
          <a:prstGeom prst="rect">
            <a:avLst/>
          </a:prstGeom>
          <a:solidFill>
            <a:srgbClr val="1B2A4A"/>
          </a:solidFill>
          <a:ln cap="flat" cmpd="sng" w="9525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0"/>
          <p:cNvSpPr/>
          <p:nvPr/>
        </p:nvSpPr>
        <p:spPr>
          <a:xfrm>
            <a:off x="2240280" y="1005840"/>
            <a:ext cx="18745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Predicted: Forged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4206240" y="1005840"/>
            <a:ext cx="1874520" cy="960120"/>
          </a:xfrm>
          <a:prstGeom prst="rect">
            <a:avLst/>
          </a:prstGeom>
          <a:solidFill>
            <a:srgbClr val="1B2A4A"/>
          </a:solidFill>
          <a:ln cap="flat" cmpd="sng" w="9525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0"/>
          <p:cNvSpPr/>
          <p:nvPr/>
        </p:nvSpPr>
        <p:spPr>
          <a:xfrm>
            <a:off x="4206240" y="1005840"/>
            <a:ext cx="18745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Predicted: Genuine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274320" y="2029968"/>
            <a:ext cx="1874520" cy="960120"/>
          </a:xfrm>
          <a:prstGeom prst="rect">
            <a:avLst/>
          </a:prstGeom>
          <a:solidFill>
            <a:srgbClr val="1B2A4A"/>
          </a:solidFill>
          <a:ln cap="flat" cmpd="sng" w="9525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0"/>
          <p:cNvSpPr/>
          <p:nvPr/>
        </p:nvSpPr>
        <p:spPr>
          <a:xfrm>
            <a:off x="274320" y="2029968"/>
            <a:ext cx="18745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Actual: Forged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2240280" y="2029968"/>
            <a:ext cx="1874520" cy="960120"/>
          </a:xfrm>
          <a:prstGeom prst="rect">
            <a:avLst/>
          </a:prstGeom>
          <a:solidFill>
            <a:srgbClr val="D5F5E3"/>
          </a:solidFill>
          <a:ln cap="flat" cmpd="sng" w="9525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0"/>
          <p:cNvSpPr/>
          <p:nvPr/>
        </p:nvSpPr>
        <p:spPr>
          <a:xfrm>
            <a:off x="2240280" y="2029968"/>
            <a:ext cx="18745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5A3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45A32"/>
                </a:solidFill>
                <a:latin typeface="Calibri"/>
                <a:ea typeface="Calibri"/>
                <a:cs typeface="Calibri"/>
                <a:sym typeface="Calibri"/>
              </a:rPr>
              <a:t>TN = 180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5A3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45A32"/>
                </a:solidFill>
                <a:latin typeface="Calibri"/>
                <a:ea typeface="Calibri"/>
                <a:cs typeface="Calibri"/>
                <a:sym typeface="Calibri"/>
              </a:rPr>
              <a:t>✓ Correctly rejected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4206240" y="2029968"/>
            <a:ext cx="1874520" cy="960120"/>
          </a:xfrm>
          <a:prstGeom prst="rect">
            <a:avLst/>
          </a:prstGeom>
          <a:solidFill>
            <a:srgbClr val="FDEBD0"/>
          </a:solidFill>
          <a:ln cap="flat" cmpd="sng" w="9525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0"/>
          <p:cNvSpPr/>
          <p:nvPr/>
        </p:nvSpPr>
        <p:spPr>
          <a:xfrm>
            <a:off x="4206240" y="2029968"/>
            <a:ext cx="18745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D660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D6608"/>
                </a:solidFill>
                <a:latin typeface="Calibri"/>
                <a:ea typeface="Calibri"/>
                <a:cs typeface="Calibri"/>
                <a:sym typeface="Calibri"/>
              </a:rPr>
              <a:t>FP = 315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D660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D6608"/>
                </a:solidFill>
                <a:latin typeface="Calibri"/>
                <a:ea typeface="Calibri"/>
                <a:cs typeface="Calibri"/>
                <a:sym typeface="Calibri"/>
              </a:rPr>
              <a:t>✗ Missed forgeries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274320" y="3054096"/>
            <a:ext cx="1874520" cy="960120"/>
          </a:xfrm>
          <a:prstGeom prst="rect">
            <a:avLst/>
          </a:prstGeom>
          <a:solidFill>
            <a:srgbClr val="1B2A4A"/>
          </a:solidFill>
          <a:ln cap="flat" cmpd="sng" w="9525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0"/>
          <p:cNvSpPr/>
          <p:nvPr/>
        </p:nvSpPr>
        <p:spPr>
          <a:xfrm>
            <a:off x="274320" y="3054096"/>
            <a:ext cx="18745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Actual: Genuine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2240280" y="3054096"/>
            <a:ext cx="1874520" cy="960120"/>
          </a:xfrm>
          <a:prstGeom prst="rect">
            <a:avLst/>
          </a:prstGeom>
          <a:solidFill>
            <a:srgbClr val="D6EAF8"/>
          </a:solidFill>
          <a:ln cap="flat" cmpd="sng" w="9525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0"/>
          <p:cNvSpPr/>
          <p:nvPr/>
        </p:nvSpPr>
        <p:spPr>
          <a:xfrm>
            <a:off x="2240280" y="3054096"/>
            <a:ext cx="18745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5276"/>
                </a:solidFill>
                <a:latin typeface="Calibri"/>
                <a:ea typeface="Calibri"/>
                <a:cs typeface="Calibri"/>
                <a:sym typeface="Calibri"/>
              </a:rPr>
              <a:t>FN = 29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5276"/>
                </a:solidFill>
                <a:latin typeface="Calibri"/>
                <a:ea typeface="Calibri"/>
                <a:cs typeface="Calibri"/>
                <a:sym typeface="Calibri"/>
              </a:rPr>
              <a:t>✗ Wrongly rejected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4206240" y="3054096"/>
            <a:ext cx="1874520" cy="960120"/>
          </a:xfrm>
          <a:prstGeom prst="rect">
            <a:avLst/>
          </a:prstGeom>
          <a:solidFill>
            <a:srgbClr val="D5F5E3"/>
          </a:solidFill>
          <a:ln cap="flat" cmpd="sng" w="9525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0"/>
          <p:cNvSpPr/>
          <p:nvPr/>
        </p:nvSpPr>
        <p:spPr>
          <a:xfrm>
            <a:off x="4206240" y="3054096"/>
            <a:ext cx="18745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5A3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45A32"/>
                </a:solidFill>
                <a:latin typeface="Calibri"/>
                <a:ea typeface="Calibri"/>
                <a:cs typeface="Calibri"/>
                <a:sym typeface="Calibri"/>
              </a:rPr>
              <a:t>TP = 521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5A3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45A32"/>
                </a:solidFill>
                <a:latin typeface="Calibri"/>
                <a:ea typeface="Calibri"/>
                <a:cs typeface="Calibri"/>
                <a:sym typeface="Calibri"/>
              </a:rPr>
              <a:t>✓ Correctly verified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6217920" y="100584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INTERPRETATION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6217920" y="1325880"/>
            <a:ext cx="2606040" cy="749808"/>
          </a:xfrm>
          <a:prstGeom prst="roundRect">
            <a:avLst>
              <a:gd fmla="val 731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0"/>
          <p:cNvSpPr/>
          <p:nvPr/>
        </p:nvSpPr>
        <p:spPr>
          <a:xfrm>
            <a:off x="6355080" y="1389888"/>
            <a:ext cx="23591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521 True Positives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6355080" y="1627632"/>
            <a:ext cx="235915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Genuine signatures correctly verified — strong performance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6217920" y="2221992"/>
            <a:ext cx="2606040" cy="749808"/>
          </a:xfrm>
          <a:prstGeom prst="roundRect">
            <a:avLst>
              <a:gd fmla="val 731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0"/>
          <p:cNvSpPr/>
          <p:nvPr/>
        </p:nvSpPr>
        <p:spPr>
          <a:xfrm>
            <a:off x="6355080" y="2286000"/>
            <a:ext cx="23591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29 False Negatives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6355080" y="2523744"/>
            <a:ext cx="235915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Only 29 genuine signatures wrongly rejected — excellent Recall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6217920" y="3118104"/>
            <a:ext cx="2606040" cy="749808"/>
          </a:xfrm>
          <a:prstGeom prst="roundRect">
            <a:avLst>
              <a:gd fmla="val 731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0"/>
          <p:cNvSpPr/>
          <p:nvPr/>
        </p:nvSpPr>
        <p:spPr>
          <a:xfrm>
            <a:off x="6355080" y="3182112"/>
            <a:ext cx="23591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315 False Positives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6355080" y="3419856"/>
            <a:ext cx="235915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Skilled forgeries slipping through — main weakness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6217920" y="4014216"/>
            <a:ext cx="2606040" cy="749808"/>
          </a:xfrm>
          <a:prstGeom prst="roundRect">
            <a:avLst>
              <a:gd fmla="val 731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0"/>
          <p:cNvSpPr/>
          <p:nvPr/>
        </p:nvSpPr>
        <p:spPr>
          <a:xfrm>
            <a:off x="6355080" y="4078224"/>
            <a:ext cx="23591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180 True Negatives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6355080" y="4315968"/>
            <a:ext cx="235915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Forgeries correctly caught and rejected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"/>
          <p:cNvSpPr txBox="1"/>
          <p:nvPr/>
        </p:nvSpPr>
        <p:spPr>
          <a:xfrm>
            <a:off x="8089900" y="92350"/>
            <a:ext cx="734100" cy="7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C9A84C"/>
                </a:solidFill>
              </a:rPr>
              <a:t>09</a:t>
            </a:r>
            <a:endParaRPr b="1" sz="3700">
              <a:solidFill>
                <a:srgbClr val="C9A84C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1"/>
          <p:cNvSpPr/>
          <p:nvPr/>
        </p:nvSpPr>
        <p:spPr>
          <a:xfrm>
            <a:off x="365760" y="16459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Conclusion &amp; Recommendations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1"/>
          <p:cNvSpPr/>
          <p:nvPr/>
        </p:nvSpPr>
        <p:spPr>
          <a:xfrm>
            <a:off x="320040" y="1005840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FINDINGS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1"/>
          <p:cNvSpPr/>
          <p:nvPr/>
        </p:nvSpPr>
        <p:spPr>
          <a:xfrm>
            <a:off x="320040" y="1335024"/>
            <a:ext cx="237744" cy="237744"/>
          </a:xfrm>
          <a:prstGeom prst="ellipse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1"/>
          <p:cNvSpPr/>
          <p:nvPr/>
        </p:nvSpPr>
        <p:spPr>
          <a:xfrm>
            <a:off x="658368" y="1307592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The Siamese CNN successfully learns writer-independent verification from a small number of signature samples.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1"/>
          <p:cNvSpPr/>
          <p:nvPr/>
        </p:nvSpPr>
        <p:spPr>
          <a:xfrm>
            <a:off x="320040" y="1901952"/>
            <a:ext cx="237744" cy="237744"/>
          </a:xfrm>
          <a:prstGeom prst="ellipse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1"/>
          <p:cNvSpPr/>
          <p:nvPr/>
        </p:nvSpPr>
        <p:spPr>
          <a:xfrm>
            <a:off x="658368" y="187452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Achieved F1-Score of 75.18% and Recall of 94.72% — strong ability to validate genuine signatures.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320040" y="2468880"/>
            <a:ext cx="237744" cy="237744"/>
          </a:xfrm>
          <a:prstGeom prst="ellipse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1"/>
          <p:cNvSpPr/>
          <p:nvPr/>
        </p:nvSpPr>
        <p:spPr>
          <a:xfrm>
            <a:off x="658368" y="2441448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Data augmentation and Early Stopping effectively prevented overfitting on the training set.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1"/>
          <p:cNvSpPr/>
          <p:nvPr/>
        </p:nvSpPr>
        <p:spPr>
          <a:xfrm>
            <a:off x="320040" y="3035808"/>
            <a:ext cx="237744" cy="237744"/>
          </a:xfrm>
          <a:prstGeom prst="ellipse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1"/>
          <p:cNvSpPr/>
          <p:nvPr/>
        </p:nvSpPr>
        <p:spPr>
          <a:xfrm>
            <a:off x="658368" y="3008376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Main challenge: 315 false positives from skilled forgeries that mimic spatial geometry closely.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4846320" y="1005840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FUTURE RECOMMENDATIONS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4846320" y="1335024"/>
            <a:ext cx="3977640" cy="603504"/>
          </a:xfrm>
          <a:prstGeom prst="roundRect">
            <a:avLst>
              <a:gd fmla="val 9091" name="adj"/>
            </a:avLst>
          </a:prstGeom>
          <a:solidFill>
            <a:srgbClr val="F4F6FA"/>
          </a:solidFill>
          <a:ln>
            <a:noFill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1"/>
          <p:cNvSpPr/>
          <p:nvPr/>
        </p:nvSpPr>
        <p:spPr>
          <a:xfrm>
            <a:off x="4983480" y="1399032"/>
            <a:ext cx="3749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Deeper Architecture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1"/>
          <p:cNvSpPr/>
          <p:nvPr/>
        </p:nvSpPr>
        <p:spPr>
          <a:xfrm>
            <a:off x="4983480" y="1618488"/>
            <a:ext cx="3749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Replace custom CNN with ResNet or Vision Transformers (ViT)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4846320" y="2066544"/>
            <a:ext cx="3977640" cy="603504"/>
          </a:xfrm>
          <a:prstGeom prst="roundRect">
            <a:avLst>
              <a:gd fmla="val 9091" name="adj"/>
            </a:avLst>
          </a:prstGeom>
          <a:solidFill>
            <a:srgbClr val="F4F6FA"/>
          </a:solidFill>
          <a:ln>
            <a:noFill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1"/>
          <p:cNvSpPr/>
          <p:nvPr/>
        </p:nvSpPr>
        <p:spPr>
          <a:xfrm>
            <a:off x="4983480" y="2130552"/>
            <a:ext cx="3749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Better Loss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4983480" y="2350008"/>
            <a:ext cx="3749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Use Triplet Margin Loss for stricter genuine vs forged separation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1"/>
          <p:cNvSpPr/>
          <p:nvPr/>
        </p:nvSpPr>
        <p:spPr>
          <a:xfrm>
            <a:off x="4846320" y="2798064"/>
            <a:ext cx="3977640" cy="603504"/>
          </a:xfrm>
          <a:prstGeom prst="roundRect">
            <a:avLst>
              <a:gd fmla="val 9091" name="adj"/>
            </a:avLst>
          </a:prstGeom>
          <a:solidFill>
            <a:srgbClr val="F4F6FA"/>
          </a:solidFill>
          <a:ln>
            <a:noFill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1"/>
          <p:cNvSpPr/>
          <p:nvPr/>
        </p:nvSpPr>
        <p:spPr>
          <a:xfrm>
            <a:off x="4983480" y="2862072"/>
            <a:ext cx="3749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Dynamic Features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4983480" y="3081528"/>
            <a:ext cx="3749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Integrate pen pressure &amp; speed from digital stylus (online mode)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1"/>
          <p:cNvSpPr/>
          <p:nvPr/>
        </p:nvSpPr>
        <p:spPr>
          <a:xfrm>
            <a:off x="4846320" y="3529584"/>
            <a:ext cx="3977640" cy="603504"/>
          </a:xfrm>
          <a:prstGeom prst="roundRect">
            <a:avLst>
              <a:gd fmla="val 9091" name="adj"/>
            </a:avLst>
          </a:prstGeom>
          <a:solidFill>
            <a:srgbClr val="F4F6FA"/>
          </a:solidFill>
          <a:ln>
            <a:noFill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1"/>
          <p:cNvSpPr/>
          <p:nvPr/>
        </p:nvSpPr>
        <p:spPr>
          <a:xfrm>
            <a:off x="4983480" y="3593592"/>
            <a:ext cx="3749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User Threshold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1"/>
          <p:cNvSpPr/>
          <p:nvPr/>
        </p:nvSpPr>
        <p:spPr>
          <a:xfrm>
            <a:off x="4983480" y="3813048"/>
            <a:ext cx="3749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Dynamic per-user threshold based on individual signature variance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1"/>
          <p:cNvSpPr/>
          <p:nvPr/>
        </p:nvSpPr>
        <p:spPr>
          <a:xfrm>
            <a:off x="4846320" y="4261104"/>
            <a:ext cx="3977640" cy="603504"/>
          </a:xfrm>
          <a:prstGeom prst="roundRect">
            <a:avLst>
              <a:gd fmla="val 9091" name="adj"/>
            </a:avLst>
          </a:prstGeom>
          <a:solidFill>
            <a:srgbClr val="F4F6FA"/>
          </a:solidFill>
          <a:ln>
            <a:noFill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1"/>
          <p:cNvSpPr/>
          <p:nvPr/>
        </p:nvSpPr>
        <p:spPr>
          <a:xfrm>
            <a:off x="4983480" y="4325112"/>
            <a:ext cx="3749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Larger Dataset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1"/>
          <p:cNvSpPr/>
          <p:nvPr/>
        </p:nvSpPr>
        <p:spPr>
          <a:xfrm>
            <a:off x="4983480" y="4544568"/>
            <a:ext cx="3749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Expand beyond 105 writers for better generalization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1"/>
          <p:cNvSpPr txBox="1"/>
          <p:nvPr/>
        </p:nvSpPr>
        <p:spPr>
          <a:xfrm>
            <a:off x="8089900" y="92350"/>
            <a:ext cx="734100" cy="7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C9A84C"/>
                </a:solidFill>
              </a:rPr>
              <a:t>10</a:t>
            </a:r>
            <a:endParaRPr b="1" sz="3700">
              <a:solidFill>
                <a:srgbClr val="C9A84C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2"/>
          <p:cNvSpPr/>
          <p:nvPr/>
        </p:nvSpPr>
        <p:spPr>
          <a:xfrm>
            <a:off x="457200" y="64516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mbria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2"/>
          <p:cNvSpPr/>
          <p:nvPr/>
        </p:nvSpPr>
        <p:spPr>
          <a:xfrm>
            <a:off x="3200400" y="1721612"/>
            <a:ext cx="2743200" cy="456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2"/>
          <p:cNvSpPr/>
          <p:nvPr/>
        </p:nvSpPr>
        <p:spPr>
          <a:xfrm>
            <a:off x="457200" y="1941068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Questions &amp; Discussion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2"/>
          <p:cNvSpPr/>
          <p:nvPr/>
        </p:nvSpPr>
        <p:spPr>
          <a:xfrm>
            <a:off x="457200" y="2457855"/>
            <a:ext cx="8229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90B8"/>
              </a:buClr>
              <a:buSzPts val="1100"/>
              <a:buFont typeface="Calibri"/>
              <a:buNone/>
            </a:pPr>
            <a:r>
              <a:rPr b="0" i="0" lang="en-US" sz="1300" u="none" cap="none" strike="noStrike">
                <a:solidFill>
                  <a:srgbClr val="7A90B8"/>
                </a:solidFill>
                <a:latin typeface="Calibri"/>
                <a:ea typeface="Calibri"/>
                <a:cs typeface="Calibri"/>
                <a:sym typeface="Calibri"/>
              </a:rPr>
              <a:t>Supervised by: Dr. Adewole Lawrence Bunmi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90B8"/>
              </a:buClr>
              <a:buSzPts val="1100"/>
              <a:buFont typeface="Calibri"/>
              <a:buNone/>
            </a:pPr>
            <a:r>
              <a:rPr b="0" i="0" lang="en-US" sz="1300" u="none" cap="none" strike="noStrike">
                <a:solidFill>
                  <a:srgbClr val="7A90B8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 ·  CSC 320  ·  FUOYE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2"/>
          <p:cNvSpPr/>
          <p:nvPr/>
        </p:nvSpPr>
        <p:spPr>
          <a:xfrm>
            <a:off x="341575" y="336549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FCC"/>
              </a:buClr>
              <a:buSzPts val="1100"/>
              <a:buFont typeface="Calibri"/>
              <a:buNone/>
            </a:pPr>
            <a:r>
              <a:rPr lang="en-US" sz="1300">
                <a:solidFill>
                  <a:srgbClr val="A0AFCC"/>
                </a:solidFill>
                <a:latin typeface="Calibri"/>
                <a:ea typeface="Calibri"/>
                <a:cs typeface="Calibri"/>
                <a:sym typeface="Calibri"/>
              </a:rPr>
              <a:t>SUBMITTED BY</a:t>
            </a:r>
            <a:endParaRPr sz="1300">
              <a:solidFill>
                <a:srgbClr val="A0AF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FCC"/>
              </a:buClr>
              <a:buSzPts val="1100"/>
              <a:buFont typeface="Calibri"/>
              <a:buNone/>
            </a:pPr>
            <a:br>
              <a:rPr lang="en-US" sz="1300">
                <a:solidFill>
                  <a:srgbClr val="A0AFC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>
                <a:solidFill>
                  <a:srgbClr val="A0AFCC"/>
                </a:solidFill>
                <a:latin typeface="Calibri"/>
                <a:ea typeface="Calibri"/>
                <a:cs typeface="Calibri"/>
                <a:sym typeface="Calibri"/>
              </a:rPr>
              <a:t>AJAYI EMMANUEL OLAMIDE - CSC/2023/1036</a:t>
            </a:r>
            <a:endParaRPr sz="1300">
              <a:solidFill>
                <a:srgbClr val="A0AF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FCC"/>
              </a:buClr>
              <a:buSzPts val="1100"/>
              <a:buFont typeface="Calibri"/>
              <a:buNone/>
            </a:pPr>
            <a:r>
              <a:rPr lang="en-US" sz="1300">
                <a:solidFill>
                  <a:srgbClr val="A0AFCC"/>
                </a:solidFill>
                <a:latin typeface="Calibri"/>
                <a:ea typeface="Calibri"/>
                <a:cs typeface="Calibri"/>
                <a:sym typeface="Calibri"/>
              </a:rPr>
              <a:t>BENSON NICHOLAS OLUWAFERANMI - CSC/2023/1067</a:t>
            </a:r>
            <a:endParaRPr sz="1300">
              <a:solidFill>
                <a:srgbClr val="A0AF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FCC"/>
              </a:buClr>
              <a:buSzPts val="1100"/>
              <a:buFont typeface="Calibri"/>
              <a:buNone/>
            </a:pPr>
            <a:r>
              <a:rPr lang="en-US" sz="1300">
                <a:solidFill>
                  <a:srgbClr val="A0AFCC"/>
                </a:solidFill>
                <a:latin typeface="Calibri"/>
                <a:ea typeface="Calibri"/>
                <a:cs typeface="Calibri"/>
                <a:sym typeface="Calibri"/>
              </a:rPr>
              <a:t>OJO FELIX OLUWASEUN - CSC/2023/1124</a:t>
            </a:r>
            <a:endParaRPr sz="1300">
              <a:solidFill>
                <a:srgbClr val="A0AF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FCC"/>
              </a:buClr>
              <a:buSzPts val="1100"/>
              <a:buFont typeface="Calibri"/>
              <a:buNone/>
            </a:pPr>
            <a:r>
              <a:rPr lang="en-US" sz="1300">
                <a:solidFill>
                  <a:srgbClr val="A0AFCC"/>
                </a:solidFill>
                <a:latin typeface="Calibri"/>
                <a:ea typeface="Calibri"/>
                <a:cs typeface="Calibri"/>
                <a:sym typeface="Calibri"/>
              </a:rPr>
              <a:t>OLANIYAN AYUBA OLANREWAJU - CSC/2023/1135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2026-07-08T10:32:38Z</dcterms:created>
  <dc:creator>PptxGenJS</dc:creator>
</cp:coreProperties>
</file>